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6858000" cy="68580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2286000"/>
            <a:ext cx="5943600" cy="5943600"/>
          </a:xfrm>
          <a:prstGeom prst="ellipse">
            <a:avLst/>
          </a:prstGeom>
          <a:solidFill>
            <a:srgbClr val="135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ike_circl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887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iberation Serif"/>
              </a:rPr>
              <a:t>Bike Sharing Demand Analysis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CAD5E2"/>
                </a:solidFill>
                <a:latin typeface="Liberation Sans"/>
              </a:rPr>
              <a:t>Understanding rider behaviour through weather, time and demand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20116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Liberation Sans"/>
              </a:rPr>
              <a:t>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20624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94A3B8"/>
                </a:solidFill>
                <a:latin typeface="Liberation Sans"/>
              </a:rPr>
              <a:t>Submitted BY
</a:t>
            </a:r>
            <a:r>
              <a:rPr sz="1600" b="1">
                <a:solidFill>
                  <a:srgbClr val="FFFFFF"/>
                </a:solidFill>
                <a:latin typeface="Liberation Sans"/>
              </a:rPr>
              <a:t>RITESH SAROJ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Project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438912" cy="43891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0020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Liberation Sans"/>
              </a:rPr>
              <a:t>Who rides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Split between casual (pay-per-ride) and registered (subscriber) users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97480"/>
            <a:ext cx="438912" cy="43891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Liberation Sans"/>
              </a:rPr>
              <a:t>When they ride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Weekday vs weekend, and time-of-day demand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49039"/>
            <a:ext cx="438912" cy="43891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7033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Liberation Sans"/>
              </a:rPr>
              <a:t>What affects demand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Weather condition and temperature band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800600"/>
            <a:ext cx="438912" cy="438912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7548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Liberation Sans"/>
              </a:rPr>
              <a:t>Where it's heading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Trend direction across the 45-day window</a:t>
            </a:r>
          </a:p>
        </p:txBody>
      </p:sp>
      <p:pic>
        <p:nvPicPr>
          <p:cNvPr id="12" name="Picture 11" descr="icon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94360" cy="5882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182880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Liberation Sans"/>
              </a:rPr>
              <a:t>Objective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Analyse hourly bike-share usage to understand what drives rider demand, and turn that into decisions the business can act on.</a:t>
            </a:r>
          </a:p>
        </p:txBody>
      </p:sp>
      <p:pic>
        <p:nvPicPr>
          <p:cNvPr id="14" name="Picture 13" descr="icon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40480"/>
            <a:ext cx="594360" cy="5882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9520" y="3840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Liberation Sans"/>
              </a:rPr>
              <a:t>Scope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Rider volume, weather &amp; temperature effects, day-type and hourly patterns, and growth trend over the observed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About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EF4444"/>
                </a:solidFill>
                <a:latin typeface="Liberation Sans"/>
              </a:rPr>
              <a:t>1,000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Hourly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EF4444"/>
                </a:solidFill>
                <a:latin typeface="Liberation Sans"/>
              </a:rPr>
              <a:t>45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Calendar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EF4444"/>
                </a:solidFill>
                <a:latin typeface="Liberation Sans"/>
              </a:rPr>
              <a:t>24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Data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EF4444"/>
                </a:solidFill>
                <a:latin typeface="Liberation Sans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Liberation Sans"/>
              </a:rPr>
              <a:t>Source files merged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Liberation Sans"/>
              </a:rPr>
              <a:t>Coverage window: 1 January 2011 – 14 February 2011
</a:t>
            </a:r>
          </a:p>
          <a:p>
            <a:r>
              <a:rPr sz="1400" b="1">
                <a:solidFill>
                  <a:srgbClr val="475569"/>
                </a:solidFill>
              </a:rPr>
              <a:t>Core fields captured per hour:
</a:t>
            </a:r>
            <a:r>
              <a:rPr sz="1400">
                <a:solidFill>
                  <a:srgbClr val="475569"/>
                </a:solidFill>
              </a:rPr>
              <a:t>Date &amp; Hour · Season, Weather, Temperature, Humidity, Wind Speed · Casual, Registered &amp; Total ride Counts · Holiday &amp; Weekday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10332720" cy="914400"/>
          </a:xfrm>
          <a:prstGeom prst="roundRect">
            <a:avLst>
              <a:gd name="adj" fmla="val 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9834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FFFFFF"/>
                </a:solidFill>
                <a:latin typeface="Liberation Sans"/>
              </a:rPr>
              <a:t>Note: this dataset is an early 45-day sample — not the full annual dataset, so trends should be read as an early signal, not a full-year conclusion.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Data Preparation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240280" cy="2926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Merge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Three raw source datasets combined into one unified table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64408" y="3291840"/>
            <a:ext cx="237744" cy="20116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11880" y="2011680"/>
            <a:ext cx="2240280" cy="29260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Clean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Dates, headers and data types standardised across the sheet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1888" y="3291840"/>
            <a:ext cx="237744" cy="20116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240280" cy="2926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Engineer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New readable fields built:
Season_Name, Weather_Name,
DayType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59368" y="3291840"/>
            <a:ext cx="237744" cy="20116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2011680"/>
            <a:ext cx="2240280" cy="29260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4884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4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Enrich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Added Time_Slot, Temp_Types
(Cold/Mild/Hot) and
Holiday_Status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Liberation Sans"/>
              </a:rPr>
              <a:t>Result: a single, analysis-ready table ("Final_Data_Set") driving every pivot table, KPI and slicer in the workbook.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423160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40280"/>
            <a:ext cx="242316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58.3K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Total Rides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2011680"/>
            <a:ext cx="2423160" cy="10972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2240280"/>
            <a:ext cx="2423160" cy="2377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4.9K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Casual Riders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42316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2423160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53.3K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Registered Riders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2011680"/>
            <a:ext cx="242316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2240280"/>
            <a:ext cx="2423160" cy="2377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37744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58.3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Avg. Rides /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75569"/>
                </a:solidFill>
              </a:rPr>
              <a:t>Registered (subscriber) riders account for the large majority of total volume — see split on the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Casual vs Registered Riders</a:t>
            </a:r>
          </a:p>
        </p:txBody>
      </p:sp>
      <p:pic>
        <p:nvPicPr>
          <p:cNvPr id="4" name="Picture 3" descr="slide6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29200" cy="46101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201168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10312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293B"/>
                </a:solidFill>
              </a:rPr>
              <a:t>91.6%</a:t>
            </a:r>
          </a:p>
          <a:p>
            <a:r>
              <a:rPr sz="1400">
                <a:solidFill>
                  <a:srgbClr val="1E293B"/>
                </a:solidFill>
              </a:rPr>
              <a:t>of all rides come from Registered (subscriber)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65760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3749039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8.4%</a:t>
            </a:r>
          </a:p>
          <a:p>
            <a:r>
              <a:rPr sz="1400">
                <a:solidFill>
                  <a:srgbClr val="FFFFFF"/>
                </a:solidFill>
              </a:rPr>
              <a:t>comes from Casual, pay-per-ride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3035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75569"/>
                </a:solidFill>
              </a:rPr>
              <a:t>Insight: demand is driven mainly by regular commuters, not one-off riders — retention matters more than acquisition.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Weather Impact on Ridership</a:t>
            </a:r>
          </a:p>
        </p:txBody>
      </p:sp>
      <p:pic>
        <p:nvPicPr>
          <p:cNvPr id="4" name="Picture 3" descr="slide7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0624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194560"/>
            <a:ext cx="3657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F4444"/>
                </a:solidFill>
              </a:rPr>
              <a:t>64%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</a:rPr>
              <a:t>of all rides happen in Clear weather</a:t>
            </a:r>
          </a:p>
          <a:p>
            <a:pPr>
              <a:spcBef>
                <a:spcPts val="4000"/>
              </a:spcBef>
            </a:pPr>
            <a:r>
              <a:rPr sz="1400" i="1">
                <a:solidFill>
                  <a:srgbClr val="94A3B8"/>
                </a:solidFill>
              </a:rPr>
              <a:t>Heavy rain / snow all but stops ridership — only 36 rides recorded.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Weekday vs Weekend Demand</a:t>
            </a:r>
          </a:p>
        </p:txBody>
      </p:sp>
      <p:pic>
        <p:nvPicPr>
          <p:cNvPr id="4" name="Picture 3" descr="slide8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pic>
        <p:nvPicPr>
          <p:cNvPr id="5" name="Picture 4" descr="icon_week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94560"/>
            <a:ext cx="594360" cy="5882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21488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Weekdays lead demand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75569"/>
                </a:solidFill>
              </a:rPr>
              <a:t>Average hourly rides are highest on weekdays (63.3), pointing to a strong commuter pattern.</a:t>
            </a:r>
          </a:p>
        </p:txBody>
      </p:sp>
      <p:pic>
        <p:nvPicPr>
          <p:cNvPr id="7" name="Picture 6" descr="icon_wee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23360"/>
            <a:ext cx="594360" cy="5882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3977639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93B"/>
                </a:solidFill>
              </a:rPr>
              <a:t>Weekends are quieter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475569"/>
                </a:solidFill>
              </a:rPr>
              <a:t>Saturday and Sunday run 25–26% lower per hour — likely more leisure, fewer commutes.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Time-of-Day Demand Pattern</a:t>
            </a:r>
          </a:p>
        </p:txBody>
      </p:sp>
      <p:pic>
        <p:nvPicPr>
          <p:cNvPr id="4" name="Picture 3" descr="slide9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0624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1031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7E22"/>
                </a:solidFill>
              </a:rPr>
              <a:t>Peak hours</a:t>
            </a:r>
          </a:p>
          <a:p>
            <a:pPr>
              <a:spcBef>
                <a:spcPts val="600"/>
              </a:spcBef>
            </a:pPr>
            <a:r>
              <a:rPr sz="3200" b="1">
                <a:solidFill>
                  <a:srgbClr val="FFFFFF"/>
                </a:solidFill>
              </a:rPr>
              <a:t>5–6 PM · 8 AM</a:t>
            </a:r>
          </a:p>
          <a:p>
            <a:pPr>
              <a:spcBef>
                <a:spcPts val="1800"/>
              </a:spcBef>
            </a:pPr>
            <a:r>
              <a:rPr sz="1400">
                <a:solidFill>
                  <a:srgbClr val="CAD5E2"/>
                </a:solidFill>
              </a:rPr>
              <a:t>These hours line up with typical commute times, reinforcing that most riders use the service to get to and from work.</a:t>
            </a:r>
          </a:p>
          <a:p>
            <a:pPr>
              <a:spcBef>
                <a:spcPts val="2200"/>
              </a:spcBef>
            </a:pPr>
            <a:r>
              <a:rPr sz="1300" i="1">
                <a:solidFill>
                  <a:srgbClr val="94A3B8"/>
                </a:solidFill>
              </a:rPr>
              <a:t>Night hours (10 PM–5 AM) see minimal activity, under 2,000 rides across the whole period.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Temperature Impact on Ridership</a:t>
            </a:r>
          </a:p>
        </p:txBody>
      </p:sp>
      <p:pic>
        <p:nvPicPr>
          <p:cNvPr id="4" name="Picture 3" descr="slide10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219456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C05621"/>
                </a:solidFill>
              </a:rPr>
              <a:t>+68%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293B"/>
                </a:solidFill>
              </a:rPr>
              <a:t>higher average ridership in Hot conditions vs Cold</a:t>
            </a:r>
          </a:p>
          <a:p>
            <a:pPr>
              <a:spcBef>
                <a:spcPts val="3600"/>
              </a:spcBef>
            </a:pPr>
            <a:r>
              <a:rPr sz="1400" i="1">
                <a:solidFill>
                  <a:srgbClr val="475569"/>
                </a:solidFill>
              </a:rPr>
              <a:t>Warmer temperatures consistently correlate with more rides per hour — comfort clearly drives casual and commute usage alike.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What Drives Ride Count?</a:t>
            </a:r>
          </a:p>
        </p:txBody>
      </p:sp>
      <p:pic>
        <p:nvPicPr>
          <p:cNvPr id="4" name="Picture 3" descr="slide11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0263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0574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365D"/>
                </a:solidFill>
              </a:rPr>
              <a:t>#1 Routine Commutes (r = +0.99)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Office start and end times create over 63% of daily trips; commuter loyalty dictates baseline network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749039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3886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5621"/>
                </a:solidFill>
              </a:rPr>
              <a:t>#2 Weather Sensitivity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High humidity and precipitation suppress demand by over 40%, whereas warm afternoons unlock leisure trips.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4864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75569"/>
                </a:solidFill>
              </a:rPr>
              <a:t>Commuter habit is the bedrock; weather decides whether casual and discretionary trips happen.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Growth Trend Across the Period</a:t>
            </a:r>
          </a:p>
        </p:txBody>
      </p:sp>
      <p:pic>
        <p:nvPicPr>
          <p:cNvPr id="4" name="Picture 3" descr="slide12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920240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0574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365D"/>
                </a:solidFill>
              </a:rPr>
              <a:t>+38.6%</a:t>
            </a:r>
          </a:p>
          <a:p>
            <a:r>
              <a:rPr sz="1300">
                <a:solidFill>
                  <a:srgbClr val="1E293B"/>
                </a:solidFill>
              </a:rPr>
              <a:t>increase in average hourly ridership from early January to mid-February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749039"/>
            <a:ext cx="4297680" cy="1645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38862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B365D"/>
                </a:solidFill>
              </a:rPr>
              <a:t>7-Day Cyclical Pattern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Ridership follows a strict 7-day periodicity with weekday peaks repeating every Tuesday and Thursday.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4864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75569"/>
                </a:solidFill>
              </a:rPr>
              <a:t>System usage builds steadily over the 45-day window as seasonal awareness and mild spells expand ridership.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Interactive Dashboard</a:t>
            </a:r>
          </a:p>
        </p:txBody>
      </p:sp>
      <p:pic>
        <p:nvPicPr>
          <p:cNvPr id="4" name="Picture 3" descr="fig4_deman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760720" cy="3520440"/>
          </a:xfrm>
          <a:prstGeom prst="rect">
            <a:avLst/>
          </a:prstGeom>
        </p:spPr>
      </p:pic>
      <p:pic>
        <p:nvPicPr>
          <p:cNvPr id="5" name="Picture 4" descr="icon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502920" cy="497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7830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Executive KPI Strip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</a:rPr>
              <a:t>Live fleet totals, average hourly utilization, and weather risk gauges.</a:t>
            </a:r>
          </a:p>
        </p:txBody>
      </p:sp>
      <p:pic>
        <p:nvPicPr>
          <p:cNvPr id="7" name="Picture 6" descr="ic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154680"/>
            <a:ext cx="502920" cy="4977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1089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24x7 Heatmap Matrix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</a:rPr>
              <a:t>Spots red-zone peak commute hours (&gt;150 rides/hr) for real-time fleet rebalancing.</a:t>
            </a:r>
          </a:p>
        </p:txBody>
      </p:sp>
      <p:pic>
        <p:nvPicPr>
          <p:cNvPr id="9" name="Picture 8" descr="icon_sli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480560"/>
            <a:ext cx="502920" cy="4977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44348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Dynamic Slicers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</a:rPr>
              <a:t>One-click interactive filtering across Day Type, Month, and Weather categories.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Automation with VBA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3154680" cy="2926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ETL Pipeline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AutomatedDataCleanAndMerge joins raw sheets via Dictionary, imputes 11 atemp missing values, sets data types.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011680"/>
            <a:ext cx="3154680" cy="29260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Executive Report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GenerateExecutiveSummary builds KPI cards, day-type breakdowns, and weather tables dynamically.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154680" cy="2926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AI &amp; UDFs</a:t>
            </a:r>
          </a:p>
          <a:p>
            <a:pPr>
              <a:spcBef>
                <a:spcPts val="1600"/>
              </a:spcBef>
            </a:pPr>
            <a:r>
              <a:rPr sz="1400">
                <a:solidFill>
                  <a:srgbClr val="FFFFFF"/>
                </a:solidFill>
              </a:rPr>
              <a:t>RunAIAnomalyDetection flags Z-score outliers; custom UDFs ClassifyDemandLevel &amp; PredictHourlyDemand.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75569"/>
                </a:solidFill>
              </a:rPr>
              <a:t>One-click automation eliminates manual ETL overhead and delivers fresh reports in under 3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02920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Commuter Core (91.6%)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Volume is overwhelmingly driven by registered subscribers; commuter retention matters more than one-off acquisition.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02920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93392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67E22"/>
                </a:solidFill>
              </a:rPr>
              <a:t>Weekend Leisure Surge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Casual trips jump 3.4x on weekends (up to 18.2% on Sunday) offering high-margin per-trip monetization.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5029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F4444"/>
                </a:solidFill>
              </a:rPr>
              <a:t>Weather Vulnerability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Rain and snow cut ridership by 46.2%; clear skies capture 64% of all fleet rides.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0292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0292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22191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A34A"/>
                </a:solidFill>
              </a:rPr>
              <a:t>Night Maintenance Window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293B"/>
                </a:solidFill>
              </a:rPr>
              <a:t>Demand drops to 1.4 rides/hr between 00:30 and 05:30, providing the ideal overhaul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Liberation Serif"/>
              </a:rPr>
              <a:t>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423160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365D"/>
                </a:solidFill>
              </a:rPr>
              <a:t>1. Rebalance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E293B"/>
                </a:solidFill>
              </a:rPr>
              <a:t>Pre-stage 65% capacity at residential docks before 07:30 AM; reverse stage commercial hubs by 16:30 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1828800"/>
            <a:ext cx="2423160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5621"/>
                </a:solidFill>
              </a:rPr>
              <a:t>2. Weather Action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E293B"/>
                </a:solidFill>
              </a:rPr>
              <a:t>Pull 40% fleet indoors during precipitation alerts to cut component wear and prevent idle fleet damage.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4231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A34A"/>
                </a:solidFill>
              </a:rPr>
              <a:t>3. Conversion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E293B"/>
                </a:solidFill>
              </a:rPr>
              <a:t>Target weekend leisure riders with mobile app annual membership promotions offering 20% discounts.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828800"/>
            <a:ext cx="2423160" cy="3291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828800"/>
            <a:ext cx="242316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284C7"/>
                </a:solidFill>
              </a:rPr>
              <a:t>4. Night Service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1E293B"/>
                </a:solidFill>
              </a:rPr>
              <a:t>Schedule hardware servicing, tire checks, and battery swaps strictly during the 00:30–05:30 nocturnal lull.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475569"/>
                </a:solidFill>
              </a:rPr>
              <a:t>NextHikes IT Solutions · Submitted by Ritesh Saroj · Project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